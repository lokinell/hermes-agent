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617720" cy="6858000"/>
          </a:xfrm>
          <a:prstGeom prst="rect">
            <a:avLst/>
          </a:prstGeom>
          <a:solidFill>
            <a:srgbClr val="0E7490">
              <a:alpha val="90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-182880"/>
            <a:ext cx="4114800" cy="71323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15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EFFC"/>
                </a:solidFill>
              </a:rPr>
              <a:t>齐鲁制药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166420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AIDD数智化设计蓝图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2761488"/>
            <a:ext cx="4892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D9E5F3"/>
                </a:solidFill>
              </a:rPr>
              <a:t>以研发数据底座、知识中台与 AI 平台能力为核心，构建可落地、可审计、可扩展的医药研发数智化体系。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24476C"/>
          </a:solidFill>
          <a:ln w="12700">
            <a:solidFill>
              <a:srgbClr val="2447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656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Knowledge-Driven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420624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4476C"/>
          </a:solidFill>
          <a:ln w="12700">
            <a:solidFill>
              <a:srgbClr val="2447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42656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AIDD Ready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420624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24476C"/>
          </a:solidFill>
          <a:ln w="12700">
            <a:solidFill>
              <a:srgbClr val="2447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426567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Enterprise Grade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109728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DCEFFC"/>
          </a:solidFill>
          <a:ln w="12700">
            <a:solidFill>
              <a:srgbClr val="B7C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16368" y="1261872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</a:rPr>
              <a:t>研发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</a:rPr>
              <a:t>数据底座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281160" y="109728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D9F3F0"/>
          </a:solidFill>
          <a:ln w="12700">
            <a:solidFill>
              <a:srgbClr val="B7C8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90888" y="1261872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</a:rPr>
              <a:t>知识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</a:rPr>
              <a:t>中台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06640" y="233172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 w="12700">
            <a:solidFill>
              <a:srgbClr val="B7C8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16368" y="2496312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</a:rPr>
              <a:t>AI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</a:rPr>
              <a:t>中台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281160" y="233172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 w="12700">
            <a:solidFill>
              <a:srgbClr val="B7C8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90888" y="2496312"/>
            <a:ext cx="1517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</a:rPr>
              <a:t>场景化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</a:rPr>
              <a:t>应用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06640" y="3566160"/>
            <a:ext cx="3611880" cy="96012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B7C8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3730752"/>
            <a:ext cx="3392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</a:rPr>
              <a:t>安全合规 · 权限隔离 · 审计追踪 · 价值闭环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617220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4D2E3"/>
                </a:solidFill>
              </a:rPr>
              <a:t>战略架构方案 · Management Briefing Edition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83680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Confidential · Qilu Pharmaceutical AIDD Transformation Blueprint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653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490"/>
                </a:solidFill>
              </a:rPr>
              <a:t>Qilu Pharmaceutical · AIDD Blueprint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</a:rPr>
              <a:t>执行摘要：齐鲁制药 AIDD 建设的总体判断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36576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8795A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25880"/>
            <a:ext cx="109728" cy="19202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904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</a:rPr>
              <a:t>战略判断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333756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575"/>
                </a:solidFill>
              </a:rPr>
              <a:t>AIDD 落地不是“先上大模型”，而是先完成研发数据与知识资产化，再通过 AI 中台把检索、综述、分析、辅助决策能力产品化。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26280" y="1325880"/>
            <a:ext cx="33832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8795A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325880"/>
            <a:ext cx="109728" cy="1920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14904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</a:rPr>
              <a:t>核心目标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27448" y="1828800"/>
            <a:ext cx="306324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575"/>
                </a:solidFill>
              </a:rPr>
              <a:t>构建“数据可用、知识可用、AI 可用、价值可衡量”的企业级能力体系，形成研发效率、知识复用与决策质量的同步提升。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325880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8795A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325880"/>
            <a:ext cx="109728" cy="1920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1490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</a:rPr>
              <a:t>建议路径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39328" y="1828800"/>
            <a:ext cx="310896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575"/>
                </a:solidFill>
              </a:rPr>
              <a:t>先做知识型高价值场景，形成组织信任与使用习惯；再向靶点、分子、预测模型和 AIDD 决策深水区演进。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475488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7398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</a:rPr>
              <a:t>首批优先建设方向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" y="4050792"/>
            <a:ext cx="4434840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文献智能检索与综述助手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专利情报分析助手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SOP / 规范智能问答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项目资料统一搜索与问答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6384" y="3749040"/>
            <a:ext cx="54864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3611880"/>
            <a:ext cx="598932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3739896"/>
            <a:ext cx="5715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</a:rPr>
              <a:t>企业级平台必须具备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79008" y="4050792"/>
            <a:ext cx="5669280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统一权限与 SSO，支持研发数据分级隔离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模型调用审计与证据链追溯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多模型路由、Prompt 管理和效果评测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RAG、Agent、Workflow 的统一编排能力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24144" y="3749040"/>
            <a:ext cx="54864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83680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Confidential · Qilu Pharmaceutical AIDD Transformation Blueprint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653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490"/>
                </a:solidFill>
              </a:rPr>
              <a:t>Qilu Pharmaceutical · AIDD Blueprint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</a:rPr>
              <a:t>建设背景：研发数据、知识与决策链条的核心痛点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50749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8795A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17320"/>
            <a:ext cx="109728" cy="1645920"/>
          </a:xfrm>
          <a:prstGeom prst="rect">
            <a:avLst/>
          </a:prstGeom>
          <a:solidFill>
            <a:srgbClr val="C24141"/>
          </a:solidFill>
          <a:ln w="12700">
            <a:solidFill>
              <a:srgbClr val="C2414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5819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</a:rPr>
              <a:t>数据分散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1920240"/>
            <a:ext cx="47548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575"/>
                </a:solidFill>
              </a:rPr>
              <a:t>LIMS、ELN、文档、网盘、项目材料、外部数据库彼此割裂，跨系统检索成本高。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50749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8795A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417320"/>
            <a:ext cx="109728" cy="1645920"/>
          </a:xfrm>
          <a:prstGeom prst="rect">
            <a:avLst/>
          </a:prstGeom>
          <a:solidFill>
            <a:srgbClr val="C58A15"/>
          </a:solidFill>
          <a:ln w="12700">
            <a:solidFill>
              <a:srgbClr val="C58A1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15819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</a:rPr>
              <a:t>知识沉没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01968" y="1920240"/>
            <a:ext cx="47548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575"/>
                </a:solidFill>
              </a:rPr>
              <a:t>研究结论、方法经验、失败教训更多停留在人和文档里，无法标准化复用。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50749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8795A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566160"/>
            <a:ext cx="109728" cy="1645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7307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</a:rPr>
              <a:t>决策低效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2688" y="4069080"/>
            <a:ext cx="47548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575"/>
                </a:solidFill>
              </a:rPr>
              <a:t>立项、靶点评估、专利分析依赖人工拼接信息，速度慢且证据链不完整。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3566160"/>
            <a:ext cx="50749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8795A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3566160"/>
            <a:ext cx="109728" cy="16459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1968" y="37307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</a:rPr>
              <a:t>AI 难上线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01968" y="4069080"/>
            <a:ext cx="47548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575"/>
                </a:solidFill>
              </a:rPr>
              <a:t>如果缺少权限、审计、治理与评测，AI 很容易停留在 demo，无法成为生产力工具。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017520" y="5852160"/>
            <a:ext cx="6126480" cy="420624"/>
          </a:xfrm>
          <a:prstGeom prst="roundRect">
            <a:avLst>
              <a:gd name="adj" fmla="val 13043"/>
            </a:avLst>
          </a:prstGeom>
          <a:solidFill>
            <a:srgbClr val="EEF6FF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82112" y="5961888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</a:rPr>
              <a:t>结论：齐鲁制药需要的是“企业级 AIDD 体系”，不是孤立工具；平台能力要和真实研发流程一起设计。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83680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Confidential · Qilu Pharmaceutical AIDD Transformation Blueprint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653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490"/>
                </a:solidFill>
              </a:rPr>
              <a:t>Qilu Pharmaceutical · AIDD Blueprint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</a:rPr>
              <a:t>总体蓝图：五层架构支撑齐鲁制药 AIDD 数智化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325880"/>
            <a:ext cx="10241280" cy="713232"/>
          </a:xfrm>
          <a:prstGeom prst="roundRect">
            <a:avLst>
              <a:gd name="adj" fmla="val 6410"/>
            </a:avLst>
          </a:prstGeom>
          <a:solidFill>
            <a:srgbClr val="DCEFFC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325880"/>
            <a:ext cx="1371600" cy="713232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536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应用层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560320" y="149047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文献助手 · 专利助手 · SOP 助手 · 项目问答 · 靶点情报 · 竞品分析 · 报告生成 · 研发 Copilot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960120" y="2194560"/>
            <a:ext cx="10241280" cy="777240"/>
          </a:xfrm>
          <a:prstGeom prst="roundRect">
            <a:avLst>
              <a:gd name="adj" fmla="val 5882"/>
            </a:avLst>
          </a:prstGeom>
          <a:solidFill>
            <a:srgbClr val="D9F3F0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194560"/>
            <a:ext cx="1371600" cy="777240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4048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AI 中台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560320" y="2359152"/>
            <a:ext cx="82753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LLM 网关 · RAG · Agent · Workflow · Prompt 管理 · 评测监控 · 多模型路由 · 成本控制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960120" y="3127248"/>
            <a:ext cx="10241280" cy="868680"/>
          </a:xfrm>
          <a:prstGeom prst="roundRect">
            <a:avLst>
              <a:gd name="adj" fmla="val 5263"/>
            </a:avLst>
          </a:prstGeom>
          <a:solidFill>
            <a:srgbClr val="EAF3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127248"/>
            <a:ext cx="1371600" cy="868680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337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知识层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560320" y="3291840"/>
            <a:ext cx="8275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文献知识库 · 专利知识库 · 项目知识库 · 靶点/分子知识图谱 · 术语库 · 规则库 · 向量索引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60120" y="4187952"/>
            <a:ext cx="10241280" cy="9144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187952"/>
            <a:ext cx="1371600" cy="914400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439826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数据层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560320" y="4352544"/>
            <a:ext cx="8275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LIMS · ELN · ERP · OA · 项目系统 · 文档/网盘 · PubMed · 专利库 · 公共药研数据库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960120" y="5321808"/>
            <a:ext cx="10241280" cy="658368"/>
          </a:xfrm>
          <a:prstGeom prst="roundRect">
            <a:avLst>
              <a:gd name="adj" fmla="val 6944"/>
            </a:avLst>
          </a:prstGeom>
          <a:solidFill>
            <a:srgbClr val="E8EEF7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321808"/>
            <a:ext cx="1371600" cy="658368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5532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治理层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560320" y="5486400"/>
            <a:ext cx="8275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7"/>
                </a:solidFill>
              </a:rPr>
              <a:t>SSO / 权限隔离 · 审计追踪 · 合规留痕 · 版本管理 · 数据质量 · 安全边界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83680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Confidential · Qilu Pharmaceutical AIDD Transformation Blueprint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653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490"/>
                </a:solidFill>
              </a:rPr>
              <a:t>Qilu Pharmaceutical · AIDD Blueprint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</a:rPr>
              <a:t>能力地图：从“知识可得”走向“AIDD 辅助决策”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2651760" cy="45262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95A5B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2651760" cy="6858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76479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Stage 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知识激活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2514600"/>
            <a:ext cx="2395728" cy="3154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统一接入文献/专利/项目资料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建立企业研发问答入口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支持摘要、综述、搜索与引用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11880" y="1554480"/>
            <a:ext cx="2651760" cy="45262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95A5B2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1554480"/>
            <a:ext cx="265176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21608" y="176479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Stage 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协同提效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58184" y="2514600"/>
            <a:ext cx="2395728" cy="3154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自动生成周报/月报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实验记录智能总结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跨团队项目知识复用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1554480"/>
            <a:ext cx="2651760" cy="45262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95A5B2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0" y="1554480"/>
            <a:ext cx="2651760" cy="6858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76479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Stage 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情报与洞察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29984" y="2514600"/>
            <a:ext cx="2395728" cy="3154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靶点知识整合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竞品管线监测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立项与专利风险分析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555480" y="1554480"/>
            <a:ext cx="1965960" cy="452628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95A5B2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555480" y="1554480"/>
            <a:ext cx="1965960" cy="685800"/>
          </a:xfrm>
          <a:prstGeom prst="rect">
            <a:avLst/>
          </a:prstGeom>
          <a:solidFill>
            <a:srgbClr val="C58A15"/>
          </a:solidFill>
          <a:ln w="12700">
            <a:solidFill>
              <a:srgbClr val="C58A1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65208" y="1764792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Stage 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AIDD 深化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701784" y="2514600"/>
            <a:ext cx="1709928" cy="3154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分子筛选辅助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ADMET 风险提示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实验设计与优先级建议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83680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Confidential · Qilu Pharmaceutical AIDD Transformation Blueprint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653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490"/>
                </a:solidFill>
              </a:rPr>
              <a:t>Qilu Pharmaceutical · AIDD Blueprint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</a:rPr>
              <a:t>首批场景优先级：价值高、建设快、组织感知强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508760"/>
            <a:ext cx="960120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D7D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3749040"/>
            <a:ext cx="960120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97880" y="1508760"/>
            <a:ext cx="0" cy="448056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0" y="60533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5"/>
                </a:solidFill>
              </a:rPr>
              <a:t>建设复杂度 →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 rot="16200000">
            <a:off x="411480" y="1005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5"/>
                </a:solidFill>
              </a:rPr>
              <a:t>业务价值 ↑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03120" y="2331720"/>
            <a:ext cx="475488" cy="47548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246888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51760" y="24140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文献综述助手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2514600"/>
            <a:ext cx="475488" cy="47548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65176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23360" y="25968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专利情报分析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4663440"/>
            <a:ext cx="475488" cy="47548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480060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47457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SOP 智能问答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12080" y="4160520"/>
            <a:ext cx="475488" cy="47548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429768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60720" y="42428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项目资料问答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2926080"/>
            <a:ext cx="475488" cy="47548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306324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32320" y="30083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靶点情报助手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543800" y="3520440"/>
            <a:ext cx="475488" cy="47548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365760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92440" y="36027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竞品管线监测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4251960"/>
            <a:ext cx="475488" cy="47548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438912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595360" y="43342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实验记录总结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44000" y="4480560"/>
            <a:ext cx="475488" cy="47548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35440" y="461772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692640" y="4562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周报/月报生成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778240" y="2057400"/>
            <a:ext cx="475488" cy="475488"/>
          </a:xfrm>
          <a:prstGeom prst="ellipse">
            <a:avLst/>
          </a:prstGeom>
          <a:solidFill>
            <a:srgbClr val="C58A15"/>
          </a:solidFill>
          <a:ln w="12700">
            <a:solidFill>
              <a:srgbClr val="C58A1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0" y="219456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326880" y="21396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知识图谱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692640" y="2514600"/>
            <a:ext cx="475488" cy="475488"/>
          </a:xfrm>
          <a:prstGeom prst="ellipse">
            <a:avLst/>
          </a:prstGeom>
          <a:solidFill>
            <a:srgbClr val="C24141"/>
          </a:solidFill>
          <a:ln w="12700">
            <a:solidFill>
              <a:srgbClr val="C241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4080" y="265176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P2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241280" y="25968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分子筛选/ADMET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331720" y="6144768"/>
            <a:ext cx="7498080" cy="310896"/>
          </a:xfrm>
          <a:prstGeom prst="roundRect">
            <a:avLst>
              <a:gd name="adj" fmla="val 2352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23160" y="62042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4B"/>
                </a:solidFill>
              </a:rPr>
              <a:t>建议首批启动：文献综述 + 专利分析 + SOP 问答 + 项目资料问答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583680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Confidential · Qilu Pharmaceutical AIDD Transformation Blueprint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5653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490"/>
                </a:solidFill>
              </a:rPr>
              <a:t>Qilu Pharmaceutical · AIDD Blueprint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</a:rPr>
              <a:t>落地路线图：分三阶段推进，从试点到企业平台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3566160" cy="43891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3566160" cy="731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470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1 · 0-3个月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56032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197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</a:rPr>
              <a:t>知识底座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256032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26197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</a:rPr>
              <a:t>试点上线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063240"/>
            <a:ext cx="3246120" cy="2423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接入文献、SOP、项目资料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完成统一问答入口和基础权限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试点团队形成真实使用闭环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1600200"/>
            <a:ext cx="3566160" cy="43891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600200"/>
            <a:ext cx="356616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9704" y="18470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2 · 3-9个月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26280" y="256032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26197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平台化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15000" y="256032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6197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中台化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3063240"/>
            <a:ext cx="3246120" cy="2423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建设知识中台和 AI 中台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引入专利、靶点、竞品情报场景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建立评测、监控、审计能力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0" y="1600200"/>
            <a:ext cx="3520440" cy="438912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1600200"/>
            <a:ext cx="3520440" cy="7315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01584" y="184708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3 · 9-18个月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138160" y="256032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26197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</a:rPr>
              <a:t>AIDD深化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326880" y="256032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0" y="26197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</a:rPr>
              <a:t>预测决策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38160" y="3063240"/>
            <a:ext cx="3200400" cy="2423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形成靶点/分子知识图谱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引入预测模型与实验辅助分析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向 AIDD 决策支持能力扩展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83680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Confidential · Qilu Pharmaceutical AIDD Transformation Blueprint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490"/>
                </a:solidFill>
              </a:rPr>
              <a:t>Qilu Pharmaceutical · AIDD Blueprint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</a:rPr>
              <a:t>治理与组织：让 AI 从试用走向生产级能力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365760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453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</a:rPr>
              <a:t>治理红线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1856232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研发数据分级分类，敏感数据默认最小授权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模型输出必须具备证据链与引用来源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关键决策场景保留人工复核与审批节点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所有调用行为可审计、可回放、可追责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77824" y="1554480"/>
            <a:ext cx="54864" cy="201168"/>
          </a:xfrm>
          <a:prstGeom prst="rect">
            <a:avLst/>
          </a:prstGeom>
          <a:solidFill>
            <a:srgbClr val="C24141"/>
          </a:solidFill>
          <a:ln w="12700">
            <a:solidFill>
              <a:srgbClr val="C2414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417320"/>
            <a:ext cx="365760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5453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</a:rPr>
              <a:t>平台机制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27448" y="1856232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统一 SSO / RBAC / 项目权限映射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Prompt、模型、知识版本统一管理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评测指标覆盖效果、成本、稳定性、幻觉率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监控覆盖用户采纳率、问题命中率、调用时延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72584" y="1554480"/>
            <a:ext cx="54864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417320"/>
            <a:ext cx="315468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54533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</a:rPr>
              <a:t>组织协同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22208" y="1856232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业务 Owner：定义场景与价值目标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数据 Owner：负责口径、质量、授权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AI/算法团队：负责模型、RAG、Agent 与评测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IT/架构团队：负责平台、集成、安全与运维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67344" y="1554480"/>
            <a:ext cx="54864" cy="20116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4440" y="4160520"/>
            <a:ext cx="98298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8795A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234440" y="4160520"/>
            <a:ext cx="109728" cy="1280160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35608" y="4325112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</a:rPr>
              <a:t>推荐组织机制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35608" y="4663440"/>
            <a:ext cx="95097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575"/>
                </a:solidFill>
              </a:rPr>
              <a:t>设立“业务 + 数据 + AI + IT”联合治理委员会，按季度评审场景优先级、价值产出、合规风险和平台演进方向，避免部门级孤岛建设。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83680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Confidential · Qilu Pharmaceutical AIDD Transformation Blueprint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653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7490"/>
                </a:solidFill>
              </a:rPr>
              <a:t>Qilu Pharmaceutical · AIDD Blueprint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</a:rPr>
              <a:t>价值闭环：用指标而不是 Demo 证明 AIDD 建设成效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524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429000" cy="1463040"/>
          </a:xfrm>
          <a:prstGeom prst="roundRect">
            <a:avLst>
              <a:gd name="adj" fmla="val 3125"/>
            </a:avLst>
          </a:prstGeom>
          <a:solidFill>
            <a:srgbClr val="F8FB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19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</a:rPr>
              <a:t>检索效率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17520" y="16733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7490"/>
                </a:solidFill>
              </a:rPr>
              <a:t>50%+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05740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575"/>
                </a:solidFill>
              </a:rPr>
              <a:t>文献/项目资料平均检索时间下降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26280" y="1554480"/>
            <a:ext cx="3429000" cy="1463040"/>
          </a:xfrm>
          <a:prstGeom prst="roundRect">
            <a:avLst>
              <a:gd name="adj" fmla="val 3125"/>
            </a:avLst>
          </a:prstGeom>
          <a:solidFill>
            <a:srgbClr val="F8FB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719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</a:rPr>
              <a:t>知识复用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12280" y="16733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7490"/>
                </a:solidFill>
              </a:rPr>
              <a:t>60%+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90872" y="205740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575"/>
                </a:solidFill>
              </a:rPr>
              <a:t>高频研发问答可被系统命中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554480"/>
            <a:ext cx="3429000" cy="1463040"/>
          </a:xfrm>
          <a:prstGeom prst="roundRect">
            <a:avLst>
              <a:gd name="adj" fmla="val 3125"/>
            </a:avLst>
          </a:prstGeom>
          <a:solidFill>
            <a:srgbClr val="F8FB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719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</a:rPr>
              <a:t>管理效率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607040" y="16733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7490"/>
                </a:solidFill>
              </a:rPr>
              <a:t>70%+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85632" y="205740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575"/>
                </a:solidFill>
              </a:rPr>
              <a:t>周报/月报制作时间压缩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3474720"/>
            <a:ext cx="3429000" cy="1463040"/>
          </a:xfrm>
          <a:prstGeom prst="roundRect">
            <a:avLst>
              <a:gd name="adj" fmla="val 3125"/>
            </a:avLst>
          </a:prstGeom>
          <a:solidFill>
            <a:srgbClr val="F7FCFB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6393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</a:rPr>
              <a:t>项目决策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17520" y="35935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7490"/>
                </a:solidFill>
              </a:rPr>
              <a:t>30%+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6112" y="397764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575"/>
                </a:solidFill>
              </a:rPr>
              <a:t>立项资料准备周期缩短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26280" y="3474720"/>
            <a:ext cx="3429000" cy="1463040"/>
          </a:xfrm>
          <a:prstGeom prst="roundRect">
            <a:avLst>
              <a:gd name="adj" fmla="val 3125"/>
            </a:avLst>
          </a:prstGeom>
          <a:solidFill>
            <a:srgbClr val="F7FCFB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36393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</a:rPr>
              <a:t>平台质量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12280" y="35935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7490"/>
                </a:solidFill>
              </a:rPr>
              <a:t>持续优化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90872" y="397764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575"/>
                </a:solidFill>
              </a:rPr>
              <a:t>有引用回答占比 / 幻觉率持续改善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21040" y="3474720"/>
            <a:ext cx="3429000" cy="1463040"/>
          </a:xfrm>
          <a:prstGeom prst="roundRect">
            <a:avLst>
              <a:gd name="adj" fmla="val 3125"/>
            </a:avLst>
          </a:prstGeom>
          <a:solidFill>
            <a:srgbClr val="F7FCFB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36393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</a:rPr>
              <a:t>组织采纳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607040" y="35935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7490"/>
                </a:solidFill>
              </a:rPr>
              <a:t>逐季提升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85632" y="397764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575"/>
                </a:solidFill>
              </a:rPr>
              <a:t>月活用户、复用率、场景覆盖团队数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68680" y="5532120"/>
            <a:ext cx="10469880" cy="658368"/>
          </a:xfrm>
          <a:prstGeom prst="roundRect">
            <a:avLst>
              <a:gd name="adj" fmla="val 8333"/>
            </a:avLst>
          </a:prstGeom>
          <a:solidFill>
            <a:srgbClr val="EAF6FF"/>
          </a:solidFill>
          <a:ln w="12700">
            <a:solidFill>
              <a:srgbClr val="D7DFEA"/>
            </a:solidFill>
            <a:prstDash val="solid"/>
          </a:ln>
          <a:effectLst>
            <a:outerShdw sx="100000" sy="100000" kx="0" ky="0" algn="bl" rotWithShape="0" blurRad="25400" dist="12700" dir="2700000">
              <a:srgbClr val="8795A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8680" y="5532120"/>
            <a:ext cx="109728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9848" y="5696712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</a:rPr>
              <a:t>管理层关注点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69848" y="6035040"/>
            <a:ext cx="1014984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575"/>
                </a:solidFill>
              </a:rPr>
              <a:t>建议把 AI 建设成果与“效率提升、风险降低、知识沉淀、项目质量”四类 KPI 绑定，而不是只看模型数量或调用量。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583680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Confidential · Qilu Pharmaceutical AIDD Transformation Blueprint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D8EE"/>
                </a:solidFill>
              </a:rPr>
              <a:t>结论与建议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先做知识化，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再做智能化；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先做高价值场景，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再进入 AIDD 深水区。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49808" y="44348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9E5F3"/>
                </a:solidFill>
              </a:rPr>
              <a:t>建议齐鲁制药以“研发知识底座 + AI 中台 + 首批高价值场景”作为启动方案，在 12~18 个月内形成企业级 AIDD 能力框架。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0" y="1143000"/>
            <a:ext cx="4526280" cy="777240"/>
          </a:xfrm>
          <a:prstGeom prst="roundRect">
            <a:avLst>
              <a:gd name="adj" fmla="val 7059"/>
            </a:avLst>
          </a:prstGeom>
          <a:solidFill>
            <a:srgbClr val="1C3D66"/>
          </a:solidFill>
          <a:ln w="12700">
            <a:solidFill>
              <a:srgbClr val="5E7C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12280" y="131673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数据资产化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66760" y="132588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7E5F5"/>
                </a:solidFill>
              </a:rPr>
              <a:t>统一接入与治理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0" y="2240280"/>
            <a:ext cx="4526280" cy="777240"/>
          </a:xfrm>
          <a:prstGeom prst="roundRect">
            <a:avLst>
              <a:gd name="adj" fmla="val 7059"/>
            </a:avLst>
          </a:prstGeom>
          <a:solidFill>
            <a:srgbClr val="214870"/>
          </a:solidFill>
          <a:ln w="12700">
            <a:solidFill>
              <a:srgbClr val="5E7C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24140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知识资产化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66760" y="242316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7E5F5"/>
                </a:solidFill>
              </a:rPr>
              <a:t>知识库 / 图谱 / 规则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3337560"/>
            <a:ext cx="4526280" cy="777240"/>
          </a:xfrm>
          <a:prstGeom prst="roundRect">
            <a:avLst>
              <a:gd name="adj" fmla="val 7059"/>
            </a:avLst>
          </a:prstGeom>
          <a:solidFill>
            <a:srgbClr val="1C3D66"/>
          </a:solidFill>
          <a:ln w="12700">
            <a:solidFill>
              <a:srgbClr val="5E7C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35112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能力化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66760" y="352044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7E5F5"/>
                </a:solidFill>
              </a:rPr>
              <a:t>RAG / Agent / Workflow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0" y="4434840"/>
            <a:ext cx="4526280" cy="777240"/>
          </a:xfrm>
          <a:prstGeom prst="roundRect">
            <a:avLst>
              <a:gd name="adj" fmla="val 7059"/>
            </a:avLst>
          </a:prstGeom>
          <a:solidFill>
            <a:srgbClr val="214870"/>
          </a:solidFill>
          <a:ln w="12700">
            <a:solidFill>
              <a:srgbClr val="5E7C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46085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价值产品化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461772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D7E5F5"/>
                </a:solidFill>
              </a:rPr>
              <a:t>面向研发与管理场景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617220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4D2E3"/>
                </a:solidFill>
              </a:rPr>
              <a:t>Qilu Pharmaceutical · AIDD Transformation Proposal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83680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Confidential · Qilu Pharmaceutical AIDD Transformation Blueprint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653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LokiBot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齐鲁制药 AIDD 数智化设计蓝图</dc:title>
  <dc:subject>齐鲁制药 AIDD 数智化设计蓝图</dc:subject>
  <dc:creator>LokiBot</dc:creator>
  <cp:lastModifiedBy>LokiBot</cp:lastModifiedBy>
  <cp:revision>1</cp:revision>
  <dcterms:created xsi:type="dcterms:W3CDTF">2026-04-11T00:29:39Z</dcterms:created>
  <dcterms:modified xsi:type="dcterms:W3CDTF">2026-04-11T00:29:39Z</dcterms:modified>
</cp:coreProperties>
</file>